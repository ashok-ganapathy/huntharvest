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68680" cy="86868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5" name="Image 0" descr="w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2" y="744322"/>
            <a:ext cx="660197" cy="6601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SUMMARY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69748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Post-Earnings</a:t>
            </a:r>
            <a:endParaRPr lang="en-US" sz="4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Announcement Drift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4526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200" kern="0" dirty="0">
                <a:solidFill>
                  <a:srgbClr val="ADB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PEAD 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E9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institutional methodology review, applied to HuntHarvest  ·  August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w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687629"/>
            <a:ext cx="590702" cy="5907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6692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PEAD?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don’t fully price in an earnings surprise immediately. </a:t>
            </a:r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continue drifting in the direction of the surprise for weeks after the report — the market’s reassessment is slow, not instant.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3794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documented by Bernard &amp; Thomas, 1989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52360" y="1508760"/>
            <a:ext cx="4114800" cy="310896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26680" y="1874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7726680" y="27249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DB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26680" y="324612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replicated findings in empirical finance — not a fringe theory.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62" y="590702"/>
            <a:ext cx="555955" cy="555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Classic Institutional Strategy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8368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full cross-section of reporting stocks by earnings surprise, trade the extremes.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255117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039112"/>
            <a:ext cx="2276856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2961742"/>
            <a:ext cx="2276856" cy="712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period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47288" y="1874520"/>
            <a:ext cx="255117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84448" y="2039112"/>
            <a:ext cx="2276856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~12.5%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584448" y="2961742"/>
            <a:ext cx="2276856" cy="712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annual return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(long top decile / short bottom)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54496" y="1874520"/>
            <a:ext cx="255117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91656" y="2039112"/>
            <a:ext cx="2276856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16.6–18.8%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391656" y="2961742"/>
            <a:ext cx="2276856" cy="712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value-filtered variant,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return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061704" y="1874520"/>
            <a:ext cx="255117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198864" y="2039112"/>
            <a:ext cx="2276856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25–30%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198864" y="2961742"/>
            <a:ext cx="2276856" cy="712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drift lands in 3-day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around the next report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008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475488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892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22960" y="537667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stocks by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surprise (SUE)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3749040" y="51892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4206240" y="475488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4389120" y="4892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4389120" y="537667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top decile /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bottom decile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315200" y="51892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Shape 24"/>
          <p:cNvSpPr/>
          <p:nvPr/>
        </p:nvSpPr>
        <p:spPr>
          <a:xfrm>
            <a:off x="7772400" y="475488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8" name="Text 25"/>
          <p:cNvSpPr/>
          <p:nvPr/>
        </p:nvSpPr>
        <p:spPr>
          <a:xfrm>
            <a:off x="7955280" y="4892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955280" y="537667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for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trading days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weake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62" y="590702"/>
            <a:ext cx="555955" cy="555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Edge Has Weakened Over Time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8368" y="13258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— but not gone. Still exists after 50+ years of publicity, which is unusual for a published anomaly.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0749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4231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VIEW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77063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Arbitrage Activity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funds trading on the anomaly, competing the edge away as it becomes better known.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72200" y="2148840"/>
            <a:ext cx="5074920" cy="283464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46520" y="24231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VIEW — BETTER SUPPORTED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6520" y="277063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Declining Signal Informativeness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446520" y="34747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earnings surprises predict future surprises less reliably than they used to — especially for smaller firms.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BF1DD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algn="l" indent="0" marL="0">
              <a:buNone/>
            </a:pPr>
            <a:r>
              <a:rPr lang="en-US" sz="1400" dirty="0">
                <a:solidFill>
                  <a:srgbClr val="5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assume a textbook-strength edge today — re-check periodically, don’t treat it as constant.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extre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62" y="5907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4572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Moves Are a Different Animal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58368" y="12801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DB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finding for HuntHarvest — its own ≥10% threshold sits in different literature than classic PEAD.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161C4A"/>
          </a:solidFill>
          <a:ln w="12700">
            <a:solidFill>
              <a:srgbClr val="3240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3774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E9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PEAD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Surprises,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Cross-Section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393192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Underreaction — market is slow to absorb the news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multi-month drift (~60 trading days)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across all surprise sizes, small to large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205740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D9A441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23774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HUNTHARVEST’S POPULATION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46520" y="278892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/ Tail Moves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(≥10% Reactions)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46520" y="393192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 OVERREACTION, not underreaction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a PARTIAL reversal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shorter horizon — days, not months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62" y="590702"/>
            <a:ext cx="555955" cy="555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Gap Statistics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8368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on-point for HuntHarvest’s own ≥10% threshold population.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4442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574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FILL RATE (5 DAYS)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8680" y="2395728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868680" y="3127248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&gt; 10% (our population)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42900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8680" y="3877056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 3–5% gaps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04360" y="1828800"/>
            <a:ext cx="34442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32960" y="20574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HELD (5 DAYS)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32960" y="2395728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4632960" y="3127248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earnings-driven gaps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32960" y="342900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632960" y="3877056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pre-market news gaps (3x less likely)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168640" y="1828800"/>
            <a:ext cx="34442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397240" y="20574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AS A FILTER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397240" y="2450592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3x+ relative volume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clear catalyst → tends to HOLD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397240" y="3337560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news → tends to FADE within the first hour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/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bottom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641909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53035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 for HuntHarvest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85800" y="194767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87452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chasing an unproven idea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371600" y="225856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DB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well-documented phenomenon — 50+ years of academic replication.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304495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9718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Studying a different slice than most literature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371600" y="335584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DB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(≥10%) moves, not the moderate surprises classic PEAD studies.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" y="414223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40690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 PARTIAL reversal as the typical outcome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371600" y="44531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DB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clean full-revert or a full-continuation — the middle case is the norm.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85800" y="523951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71600" y="516636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+ catalyst clarity are real signals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371600" y="55504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DB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already-available data — no new source needed to use them.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Specs/RESEARCH_institutional_methodology.md  ·  Specs/SPEC_daily_pipeline.md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2026-08-16T16:52:45Z</dcterms:created>
  <dcterms:modified xsi:type="dcterms:W3CDTF">2026-08-16T16:52:45Z</dcterms:modified>
</cp:coreProperties>
</file>